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59" r:id="rId6"/>
    <p:sldId id="261" r:id="rId7"/>
    <p:sldId id="265" r:id="rId8"/>
    <p:sldId id="262" r:id="rId9"/>
    <p:sldId id="263" r:id="rId10"/>
    <p:sldId id="264" r:id="rId11"/>
    <p:sldId id="266" r:id="rId12"/>
    <p:sldId id="267" r:id="rId13"/>
    <p:sldId id="268" r:id="rId14"/>
    <p:sldId id="270" r:id="rId15"/>
    <p:sldId id="269"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7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2" d="100"/>
          <a:sy n="62" d="100"/>
        </p:scale>
        <p:origin x="8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6/5/2026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1E33-C44A-4087-9ECC-289670C2DD82}"/>
              </a:ext>
            </a:extLst>
          </p:cNvPr>
          <p:cNvSpPr>
            <a:spLocks noGrp="1"/>
          </p:cNvSpPr>
          <p:nvPr>
            <p:ph type="ctrTitle"/>
          </p:nvPr>
        </p:nvSpPr>
        <p:spPr/>
        <p:txBody>
          <a:bodyPr/>
          <a:lstStyle/>
          <a:p>
            <a:r>
              <a:rPr lang="en-US" dirty="0"/>
              <a:t>Introduction to NLP</a:t>
            </a:r>
          </a:p>
        </p:txBody>
      </p:sp>
    </p:spTree>
    <p:extLst>
      <p:ext uri="{BB962C8B-B14F-4D97-AF65-F5344CB8AC3E}">
        <p14:creationId xmlns:p14="http://schemas.microsoft.com/office/powerpoint/2010/main" val="3328984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070E27-7B4C-48C8-9B89-182341BBE21A}"/>
              </a:ext>
            </a:extLst>
          </p:cNvPr>
          <p:cNvSpPr>
            <a:spLocks noGrp="1"/>
          </p:cNvSpPr>
          <p:nvPr>
            <p:ph type="title"/>
          </p:nvPr>
        </p:nvSpPr>
        <p:spPr>
          <a:xfrm>
            <a:off x="5582652" y="729983"/>
            <a:ext cx="6609348" cy="4834794"/>
          </a:xfrm>
        </p:spPr>
        <p:txBody>
          <a:bodyPr>
            <a:noAutofit/>
          </a:bodyPr>
          <a:lstStyle/>
          <a:p>
            <a:pPr algn="just"/>
            <a:r>
              <a:rPr lang="en-US" sz="3200" dirty="0"/>
              <a:t>Natural Language Processing or NLP is a multidisciplinary field combining math linguistics and computer science the goal is to get computer to do useful things with natural language data. And by Natural language we mean the language we read , write and speak with.</a:t>
            </a:r>
          </a:p>
        </p:txBody>
      </p:sp>
      <p:pic>
        <p:nvPicPr>
          <p:cNvPr id="5" name="Picture 4">
            <a:extLst>
              <a:ext uri="{FF2B5EF4-FFF2-40B4-BE49-F238E27FC236}">
                <a16:creationId xmlns:a16="http://schemas.microsoft.com/office/drawing/2014/main" id="{C67ECC0C-D5A3-4DF5-B3A0-F1FF3C733626}"/>
              </a:ext>
            </a:extLst>
          </p:cNvPr>
          <p:cNvPicPr>
            <a:picLocks noChangeAspect="1"/>
          </p:cNvPicPr>
          <p:nvPr/>
        </p:nvPicPr>
        <p:blipFill>
          <a:blip r:embed="rId2"/>
          <a:stretch>
            <a:fillRect/>
          </a:stretch>
        </p:blipFill>
        <p:spPr>
          <a:xfrm>
            <a:off x="192505" y="1536349"/>
            <a:ext cx="5191809" cy="3785301"/>
          </a:xfrm>
          <a:prstGeom prst="rect">
            <a:avLst/>
          </a:prstGeom>
        </p:spPr>
      </p:pic>
    </p:spTree>
    <p:extLst>
      <p:ext uri="{BB962C8B-B14F-4D97-AF65-F5344CB8AC3E}">
        <p14:creationId xmlns:p14="http://schemas.microsoft.com/office/powerpoint/2010/main" val="169980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7858E6-4A59-4FA2-801E-11779CFEE094}"/>
              </a:ext>
            </a:extLst>
          </p:cNvPr>
          <p:cNvSpPr>
            <a:spLocks noGrp="1"/>
          </p:cNvSpPr>
          <p:nvPr>
            <p:ph type="title"/>
          </p:nvPr>
        </p:nvSpPr>
        <p:spPr/>
        <p:txBody>
          <a:bodyPr/>
          <a:lstStyle/>
          <a:p>
            <a:r>
              <a:rPr lang="en-US" dirty="0"/>
              <a:t>Common NLP Tasks and Applications</a:t>
            </a:r>
          </a:p>
        </p:txBody>
      </p:sp>
      <p:pic>
        <p:nvPicPr>
          <p:cNvPr id="5" name="Picture 4">
            <a:extLst>
              <a:ext uri="{FF2B5EF4-FFF2-40B4-BE49-F238E27FC236}">
                <a16:creationId xmlns:a16="http://schemas.microsoft.com/office/drawing/2014/main" id="{AD930C02-816A-45AF-B56B-BD57385D6FE2}"/>
              </a:ext>
            </a:extLst>
          </p:cNvPr>
          <p:cNvPicPr>
            <a:picLocks noChangeAspect="1"/>
          </p:cNvPicPr>
          <p:nvPr/>
        </p:nvPicPr>
        <p:blipFill>
          <a:blip r:embed="rId2"/>
          <a:stretch>
            <a:fillRect/>
          </a:stretch>
        </p:blipFill>
        <p:spPr>
          <a:xfrm>
            <a:off x="589439" y="1729776"/>
            <a:ext cx="11013121" cy="4969335"/>
          </a:xfrm>
          <a:prstGeom prst="rect">
            <a:avLst/>
          </a:prstGeom>
        </p:spPr>
      </p:pic>
    </p:spTree>
    <p:extLst>
      <p:ext uri="{BB962C8B-B14F-4D97-AF65-F5344CB8AC3E}">
        <p14:creationId xmlns:p14="http://schemas.microsoft.com/office/powerpoint/2010/main" val="328299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10156-F01A-48E9-81EF-483186F17856}"/>
              </a:ext>
            </a:extLst>
          </p:cNvPr>
          <p:cNvSpPr>
            <a:spLocks noGrp="1"/>
          </p:cNvSpPr>
          <p:nvPr>
            <p:ph type="title" idx="4294967295"/>
          </p:nvPr>
        </p:nvSpPr>
        <p:spPr>
          <a:xfrm>
            <a:off x="3279775" y="623888"/>
            <a:ext cx="8912225" cy="1281112"/>
          </a:xfrm>
        </p:spPr>
        <p:txBody>
          <a:bodyPr/>
          <a:lstStyle/>
          <a:p>
            <a:r>
              <a:rPr lang="en-US" dirty="0"/>
              <a:t>Why NLP is hard ?</a:t>
            </a:r>
          </a:p>
        </p:txBody>
      </p:sp>
      <p:sp>
        <p:nvSpPr>
          <p:cNvPr id="3" name="Rectangle 2">
            <a:extLst>
              <a:ext uri="{FF2B5EF4-FFF2-40B4-BE49-F238E27FC236}">
                <a16:creationId xmlns:a16="http://schemas.microsoft.com/office/drawing/2014/main" id="{28935546-100A-4E34-A3DB-0936520F0E2C}"/>
              </a:ext>
            </a:extLst>
          </p:cNvPr>
          <p:cNvSpPr/>
          <p:nvPr/>
        </p:nvSpPr>
        <p:spPr>
          <a:xfrm>
            <a:off x="1662482" y="1453258"/>
            <a:ext cx="10208676" cy="1015663"/>
          </a:xfrm>
          <a:prstGeom prst="rect">
            <a:avLst/>
          </a:prstGeom>
        </p:spPr>
        <p:txBody>
          <a:bodyPr wrap="square">
            <a:spAutoFit/>
          </a:bodyPr>
          <a:lstStyle/>
          <a:p>
            <a:r>
              <a:rPr lang="en-US" sz="2000" dirty="0"/>
              <a:t>NLP is dependent on natural language and its is evolving with us regularly.  So it is highly Contextual and full of ambiguity, metaphors and expressions. For example…</a:t>
            </a:r>
          </a:p>
        </p:txBody>
      </p:sp>
      <p:sp>
        <p:nvSpPr>
          <p:cNvPr id="4" name="Rectangle 3">
            <a:extLst>
              <a:ext uri="{FF2B5EF4-FFF2-40B4-BE49-F238E27FC236}">
                <a16:creationId xmlns:a16="http://schemas.microsoft.com/office/drawing/2014/main" id="{B9B0C068-EE83-4238-9252-5FA44461697B}"/>
              </a:ext>
            </a:extLst>
          </p:cNvPr>
          <p:cNvSpPr/>
          <p:nvPr/>
        </p:nvSpPr>
        <p:spPr>
          <a:xfrm>
            <a:off x="2887577" y="3655973"/>
            <a:ext cx="2181728" cy="400110"/>
          </a:xfrm>
          <a:prstGeom prst="rect">
            <a:avLst/>
          </a:prstGeom>
        </p:spPr>
        <p:txBody>
          <a:bodyPr wrap="square">
            <a:spAutoFit/>
          </a:bodyPr>
          <a:lstStyle/>
          <a:p>
            <a:r>
              <a:rPr lang="en-US" sz="2000" b="1" dirty="0">
                <a:solidFill>
                  <a:schemeClr val="bg2">
                    <a:lumMod val="50000"/>
                  </a:schemeClr>
                </a:solidFill>
              </a:rPr>
              <a:t>He is at bank</a:t>
            </a:r>
          </a:p>
        </p:txBody>
      </p:sp>
      <p:pic>
        <p:nvPicPr>
          <p:cNvPr id="5" name="Picture 4">
            <a:extLst>
              <a:ext uri="{FF2B5EF4-FFF2-40B4-BE49-F238E27FC236}">
                <a16:creationId xmlns:a16="http://schemas.microsoft.com/office/drawing/2014/main" id="{4A4D520B-394A-4F8D-8944-F8D7BF1917CE}"/>
              </a:ext>
            </a:extLst>
          </p:cNvPr>
          <p:cNvPicPr>
            <a:picLocks noChangeAspect="1"/>
          </p:cNvPicPr>
          <p:nvPr/>
        </p:nvPicPr>
        <p:blipFill>
          <a:blip r:embed="rId2"/>
          <a:stretch>
            <a:fillRect/>
          </a:stretch>
        </p:blipFill>
        <p:spPr>
          <a:xfrm>
            <a:off x="946484" y="4455030"/>
            <a:ext cx="6095999" cy="1779082"/>
          </a:xfrm>
          <a:prstGeom prst="rect">
            <a:avLst/>
          </a:prstGeom>
        </p:spPr>
      </p:pic>
      <p:sp>
        <p:nvSpPr>
          <p:cNvPr id="6" name="Rectangle 5">
            <a:extLst>
              <a:ext uri="{FF2B5EF4-FFF2-40B4-BE49-F238E27FC236}">
                <a16:creationId xmlns:a16="http://schemas.microsoft.com/office/drawing/2014/main" id="{B9B688D6-7857-413D-A991-433FFC77BA7F}"/>
              </a:ext>
            </a:extLst>
          </p:cNvPr>
          <p:cNvSpPr/>
          <p:nvPr/>
        </p:nvSpPr>
        <p:spPr>
          <a:xfrm>
            <a:off x="7163614" y="3655973"/>
            <a:ext cx="4522392" cy="2585323"/>
          </a:xfrm>
          <a:prstGeom prst="rect">
            <a:avLst/>
          </a:prstGeom>
        </p:spPr>
        <p:txBody>
          <a:bodyPr wrap="none">
            <a:spAutoFit/>
          </a:bodyPr>
          <a:lstStyle/>
          <a:p>
            <a:r>
              <a:rPr lang="en-US" sz="2000" b="1" dirty="0">
                <a:solidFill>
                  <a:schemeClr val="bg2">
                    <a:lumMod val="50000"/>
                  </a:schemeClr>
                </a:solidFill>
                <a:latin typeface="source-serif-pro"/>
              </a:rPr>
              <a:t>Some reasons of why NLP is hard </a:t>
            </a:r>
            <a:r>
              <a:rPr lang="en-US" dirty="0">
                <a:solidFill>
                  <a:srgbClr val="242424"/>
                </a:solidFill>
                <a:latin typeface="source-serif-pro"/>
              </a:rPr>
              <a:t>:</a:t>
            </a:r>
            <a:endParaRPr lang="en-US" sz="2000" dirty="0">
              <a:solidFill>
                <a:srgbClr val="242424"/>
              </a:solidFill>
              <a:latin typeface="source-serif-pro"/>
            </a:endParaRPr>
          </a:p>
          <a:p>
            <a:endParaRPr lang="en-US" sz="2000" dirty="0">
              <a:solidFill>
                <a:srgbClr val="242424"/>
              </a:solidFill>
              <a:latin typeface="source-serif-pro"/>
            </a:endParaRPr>
          </a:p>
          <a:p>
            <a:r>
              <a:rPr lang="en-US" sz="2000" dirty="0">
                <a:solidFill>
                  <a:srgbClr val="242424"/>
                </a:solidFill>
                <a:latin typeface="source-serif-pro"/>
              </a:rPr>
              <a:t>1.Context</a:t>
            </a:r>
          </a:p>
          <a:p>
            <a:r>
              <a:rPr lang="en-US" sz="2000" dirty="0">
                <a:solidFill>
                  <a:srgbClr val="242424"/>
                </a:solidFill>
                <a:latin typeface="source-serif-pro"/>
              </a:rPr>
              <a:t>2.Inflections</a:t>
            </a:r>
          </a:p>
          <a:p>
            <a:r>
              <a:rPr lang="en-US" sz="2000" dirty="0">
                <a:solidFill>
                  <a:srgbClr val="242424"/>
                </a:solidFill>
                <a:latin typeface="source-serif-pro"/>
              </a:rPr>
              <a:t>3.Content</a:t>
            </a:r>
          </a:p>
          <a:p>
            <a:r>
              <a:rPr lang="en-US" sz="2000" dirty="0">
                <a:solidFill>
                  <a:srgbClr val="242424"/>
                </a:solidFill>
                <a:latin typeface="source-serif-pro"/>
              </a:rPr>
              <a:t>4.</a:t>
            </a:r>
            <a:r>
              <a:rPr lang="en-US" sz="2000" dirty="0"/>
              <a:t> Misspelled or misused words </a:t>
            </a:r>
            <a:endParaRPr lang="en-US" sz="2000" dirty="0">
              <a:solidFill>
                <a:srgbClr val="242424"/>
              </a:solidFill>
              <a:latin typeface="source-serif-pro"/>
            </a:endParaRPr>
          </a:p>
          <a:p>
            <a:r>
              <a:rPr lang="en-US" sz="2000" dirty="0">
                <a:solidFill>
                  <a:srgbClr val="242424"/>
                </a:solidFill>
                <a:latin typeface="source-serif-pro"/>
              </a:rPr>
              <a:t>5. </a:t>
            </a:r>
            <a:r>
              <a:rPr lang="en-US" sz="2000" b="1" dirty="0">
                <a:solidFill>
                  <a:srgbClr val="242424"/>
                </a:solidFill>
                <a:latin typeface="source-serif-pro"/>
              </a:rPr>
              <a:t>Physical gestures</a:t>
            </a:r>
          </a:p>
          <a:p>
            <a:endParaRPr lang="en-US" dirty="0"/>
          </a:p>
        </p:txBody>
      </p:sp>
    </p:spTree>
    <p:extLst>
      <p:ext uri="{BB962C8B-B14F-4D97-AF65-F5344CB8AC3E}">
        <p14:creationId xmlns:p14="http://schemas.microsoft.com/office/powerpoint/2010/main" val="4204277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E31A-01C3-4A1B-B0ED-7F490D8ACB82}"/>
              </a:ext>
            </a:extLst>
          </p:cNvPr>
          <p:cNvSpPr>
            <a:spLocks noGrp="1"/>
          </p:cNvSpPr>
          <p:nvPr>
            <p:ph type="title"/>
          </p:nvPr>
        </p:nvSpPr>
        <p:spPr/>
        <p:txBody>
          <a:bodyPr/>
          <a:lstStyle/>
          <a:p>
            <a:r>
              <a:rPr lang="en-US" dirty="0"/>
              <a:t>Fundamentals of NLP </a:t>
            </a:r>
          </a:p>
        </p:txBody>
      </p:sp>
      <p:pic>
        <p:nvPicPr>
          <p:cNvPr id="3" name="Picture 2">
            <a:extLst>
              <a:ext uri="{FF2B5EF4-FFF2-40B4-BE49-F238E27FC236}">
                <a16:creationId xmlns:a16="http://schemas.microsoft.com/office/drawing/2014/main" id="{7A7C5677-1592-4576-8A5D-761114FCCA3A}"/>
              </a:ext>
            </a:extLst>
          </p:cNvPr>
          <p:cNvPicPr>
            <a:picLocks noChangeAspect="1"/>
          </p:cNvPicPr>
          <p:nvPr/>
        </p:nvPicPr>
        <p:blipFill>
          <a:blip r:embed="rId2"/>
          <a:stretch>
            <a:fillRect/>
          </a:stretch>
        </p:blipFill>
        <p:spPr>
          <a:xfrm>
            <a:off x="1468874" y="1905000"/>
            <a:ext cx="10540811" cy="4682763"/>
          </a:xfrm>
          <a:prstGeom prst="rect">
            <a:avLst/>
          </a:prstGeom>
        </p:spPr>
      </p:pic>
    </p:spTree>
    <p:extLst>
      <p:ext uri="{BB962C8B-B14F-4D97-AF65-F5344CB8AC3E}">
        <p14:creationId xmlns:p14="http://schemas.microsoft.com/office/powerpoint/2010/main" val="48726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15CBF-4EED-402D-856E-1407B0C6A042}"/>
              </a:ext>
            </a:extLst>
          </p:cNvPr>
          <p:cNvSpPr>
            <a:spLocks noGrp="1"/>
          </p:cNvSpPr>
          <p:nvPr>
            <p:ph type="title"/>
          </p:nvPr>
        </p:nvSpPr>
        <p:spPr/>
        <p:txBody>
          <a:bodyPr/>
          <a:lstStyle/>
          <a:p>
            <a:r>
              <a:rPr lang="en-US" dirty="0"/>
              <a:t>Deep Learning for NLP</a:t>
            </a:r>
          </a:p>
        </p:txBody>
      </p:sp>
      <p:pic>
        <p:nvPicPr>
          <p:cNvPr id="3" name="Picture 2">
            <a:extLst>
              <a:ext uri="{FF2B5EF4-FFF2-40B4-BE49-F238E27FC236}">
                <a16:creationId xmlns:a16="http://schemas.microsoft.com/office/drawing/2014/main" id="{4B33ABA4-5311-49D6-AB61-B5E919B35420}"/>
              </a:ext>
            </a:extLst>
          </p:cNvPr>
          <p:cNvPicPr>
            <a:picLocks noChangeAspect="1"/>
          </p:cNvPicPr>
          <p:nvPr/>
        </p:nvPicPr>
        <p:blipFill>
          <a:blip r:embed="rId2"/>
          <a:stretch>
            <a:fillRect/>
          </a:stretch>
        </p:blipFill>
        <p:spPr>
          <a:xfrm>
            <a:off x="959125" y="2021304"/>
            <a:ext cx="10561528" cy="4533427"/>
          </a:xfrm>
          <a:prstGeom prst="rect">
            <a:avLst/>
          </a:prstGeom>
        </p:spPr>
      </p:pic>
    </p:spTree>
    <p:extLst>
      <p:ext uri="{BB962C8B-B14F-4D97-AF65-F5344CB8AC3E}">
        <p14:creationId xmlns:p14="http://schemas.microsoft.com/office/powerpoint/2010/main" val="930034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8A53-4FA5-4DD2-B14E-230FDCD992E4}"/>
              </a:ext>
            </a:extLst>
          </p:cNvPr>
          <p:cNvSpPr>
            <a:spLocks noGrp="1"/>
          </p:cNvSpPr>
          <p:nvPr>
            <p:ph type="title"/>
          </p:nvPr>
        </p:nvSpPr>
        <p:spPr>
          <a:xfrm>
            <a:off x="2592924" y="624110"/>
            <a:ext cx="8911687" cy="771553"/>
          </a:xfrm>
        </p:spPr>
        <p:txBody>
          <a:bodyPr/>
          <a:lstStyle/>
          <a:p>
            <a:r>
              <a:rPr lang="en-US" dirty="0"/>
              <a:t>Preprocessing : 1.Tokenization</a:t>
            </a:r>
          </a:p>
        </p:txBody>
      </p:sp>
      <p:sp>
        <p:nvSpPr>
          <p:cNvPr id="3" name="Rectangle 2">
            <a:extLst>
              <a:ext uri="{FF2B5EF4-FFF2-40B4-BE49-F238E27FC236}">
                <a16:creationId xmlns:a16="http://schemas.microsoft.com/office/drawing/2014/main" id="{873CF606-8468-4981-BA3C-AF19C1519E14}"/>
              </a:ext>
            </a:extLst>
          </p:cNvPr>
          <p:cNvSpPr/>
          <p:nvPr/>
        </p:nvSpPr>
        <p:spPr>
          <a:xfrm>
            <a:off x="1507958" y="1812758"/>
            <a:ext cx="10523622" cy="2062103"/>
          </a:xfrm>
          <a:prstGeom prst="rect">
            <a:avLst/>
          </a:prstGeom>
        </p:spPr>
        <p:txBody>
          <a:bodyPr wrap="square">
            <a:spAutoFit/>
          </a:bodyPr>
          <a:lstStyle/>
          <a:p>
            <a:r>
              <a:rPr lang="en-US" dirty="0"/>
              <a:t>We start any NLP project with a data set its called corpus(unstructured). It can be …</a:t>
            </a:r>
          </a:p>
          <a:p>
            <a:r>
              <a:rPr lang="en-US" dirty="0"/>
              <a:t>1.Collection of posts we scraped from social media</a:t>
            </a:r>
          </a:p>
          <a:p>
            <a:r>
              <a:rPr lang="en-US" dirty="0"/>
              <a:t>2.Full books</a:t>
            </a:r>
          </a:p>
          <a:p>
            <a:r>
              <a:rPr lang="en-US" dirty="0"/>
              <a:t>3. Audio of pod casts etc.</a:t>
            </a:r>
          </a:p>
          <a:p>
            <a:r>
              <a:rPr lang="en-US" dirty="0"/>
              <a:t>Our first task is to preprocess this corpus to give it some structure for further analysis. Typically for NLP the first preprocessing step is tokenization</a:t>
            </a:r>
          </a:p>
          <a:p>
            <a:r>
              <a:rPr lang="en-US" sz="2000" b="1" dirty="0"/>
              <a:t>The process of segmenting our documents into  tokens is called tokenization .</a:t>
            </a:r>
          </a:p>
        </p:txBody>
      </p:sp>
      <p:pic>
        <p:nvPicPr>
          <p:cNvPr id="4" name="Picture 3">
            <a:extLst>
              <a:ext uri="{FF2B5EF4-FFF2-40B4-BE49-F238E27FC236}">
                <a16:creationId xmlns:a16="http://schemas.microsoft.com/office/drawing/2014/main" id="{51229DED-4DAF-4EA8-B0D2-59CA68A93F6B}"/>
              </a:ext>
            </a:extLst>
          </p:cNvPr>
          <p:cNvPicPr>
            <a:picLocks noChangeAspect="1"/>
          </p:cNvPicPr>
          <p:nvPr/>
        </p:nvPicPr>
        <p:blipFill>
          <a:blip r:embed="rId2"/>
          <a:stretch>
            <a:fillRect/>
          </a:stretch>
        </p:blipFill>
        <p:spPr>
          <a:xfrm>
            <a:off x="1329628" y="3874861"/>
            <a:ext cx="10012140" cy="2606150"/>
          </a:xfrm>
          <a:prstGeom prst="rect">
            <a:avLst/>
          </a:prstGeom>
        </p:spPr>
      </p:pic>
    </p:spTree>
    <p:extLst>
      <p:ext uri="{BB962C8B-B14F-4D97-AF65-F5344CB8AC3E}">
        <p14:creationId xmlns:p14="http://schemas.microsoft.com/office/powerpoint/2010/main" val="12653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1971-5AEE-44A1-9ABE-AE5348E70067}"/>
              </a:ext>
            </a:extLst>
          </p:cNvPr>
          <p:cNvSpPr>
            <a:spLocks noGrp="1"/>
          </p:cNvSpPr>
          <p:nvPr>
            <p:ph type="title"/>
          </p:nvPr>
        </p:nvSpPr>
        <p:spPr/>
        <p:txBody>
          <a:bodyPr/>
          <a:lstStyle/>
          <a:p>
            <a:r>
              <a:rPr lang="en-US" dirty="0"/>
              <a:t>How to do tokenization </a:t>
            </a:r>
          </a:p>
        </p:txBody>
      </p:sp>
      <p:sp>
        <p:nvSpPr>
          <p:cNvPr id="3" name="Rectangle 2">
            <a:extLst>
              <a:ext uri="{FF2B5EF4-FFF2-40B4-BE49-F238E27FC236}">
                <a16:creationId xmlns:a16="http://schemas.microsoft.com/office/drawing/2014/main" id="{5A1E90DD-061D-4572-8778-36E1500AD37B}"/>
              </a:ext>
            </a:extLst>
          </p:cNvPr>
          <p:cNvSpPr/>
          <p:nvPr/>
        </p:nvSpPr>
        <p:spPr>
          <a:xfrm>
            <a:off x="6401515" y="1974503"/>
            <a:ext cx="5665333" cy="2308324"/>
          </a:xfrm>
          <a:prstGeom prst="rect">
            <a:avLst/>
          </a:prstGeom>
        </p:spPr>
        <p:txBody>
          <a:bodyPr wrap="none">
            <a:spAutoFit/>
          </a:bodyPr>
          <a:lstStyle/>
          <a:p>
            <a:r>
              <a:rPr lang="en-US" dirty="0">
                <a:solidFill>
                  <a:srgbClr val="0000FF"/>
                </a:solidFill>
                <a:latin typeface="Courier New" panose="02070309020205020404" pitchFamily="49" charset="0"/>
              </a:rPr>
              <a:t>()!</a:t>
            </a:r>
            <a:r>
              <a:rPr lang="en-US" dirty="0">
                <a:solidFill>
                  <a:srgbClr val="000000"/>
                </a:solidFill>
                <a:latin typeface="Courier New" panose="02070309020205020404" pitchFamily="49" charset="0"/>
              </a:rPr>
              <a:t>pip install -U spacy==</a:t>
            </a:r>
            <a:r>
              <a:rPr lang="en-US" dirty="0">
                <a:solidFill>
                  <a:srgbClr val="098658"/>
                </a:solidFill>
                <a:latin typeface="Courier New" panose="02070309020205020404" pitchFamily="49" charset="0"/>
              </a:rPr>
              <a:t>3.</a:t>
            </a:r>
            <a:r>
              <a:rPr lang="en-US" dirty="0">
                <a:solidFill>
                  <a:srgbClr val="000000"/>
                </a:solidFill>
                <a:latin typeface="Courier New" panose="02070309020205020404" pitchFamily="49" charset="0"/>
              </a:rPr>
              <a:t>*</a:t>
            </a:r>
          </a:p>
          <a:p>
            <a:r>
              <a:rPr lang="en-US" dirty="0">
                <a:solidFill>
                  <a:srgbClr val="0000FF"/>
                </a:solidFill>
                <a:latin typeface="Courier New" panose="02070309020205020404" pitchFamily="49" charset="0"/>
              </a:rPr>
              <a:t>()</a:t>
            </a:r>
            <a:r>
              <a:rPr lang="en-US" dirty="0"/>
              <a:t>!python -m spacy info</a:t>
            </a:r>
          </a:p>
          <a:p>
            <a:r>
              <a:rPr lang="en-US" dirty="0">
                <a:solidFill>
                  <a:srgbClr val="0000FF"/>
                </a:solidFill>
                <a:latin typeface="Courier New" panose="02070309020205020404" pitchFamily="49" charset="0"/>
              </a:rPr>
              <a:t>()</a:t>
            </a:r>
            <a:r>
              <a:rPr lang="en-US" dirty="0"/>
              <a:t>import spacy </a:t>
            </a:r>
          </a:p>
          <a:p>
            <a:r>
              <a:rPr lang="en-US" dirty="0">
                <a:solidFill>
                  <a:srgbClr val="0000FF"/>
                </a:solidFill>
                <a:latin typeface="Courier New" panose="02070309020205020404" pitchFamily="49" charset="0"/>
              </a:rPr>
              <a:t>()</a:t>
            </a:r>
            <a:r>
              <a:rPr lang="en-US" dirty="0"/>
              <a:t>!python -m spacy download </a:t>
            </a:r>
            <a:r>
              <a:rPr lang="en-US" dirty="0" err="1"/>
              <a:t>en_core_web_sm</a:t>
            </a:r>
            <a:endParaRPr lang="en-US" dirty="0"/>
          </a:p>
          <a:p>
            <a:r>
              <a:rPr lang="en-US" dirty="0">
                <a:solidFill>
                  <a:srgbClr val="0000FF"/>
                </a:solidFill>
                <a:latin typeface="Courier New" panose="02070309020205020404" pitchFamily="49" charset="0"/>
              </a:rPr>
              <a:t>()</a:t>
            </a:r>
            <a:r>
              <a:rPr lang="en-US" dirty="0" err="1"/>
              <a:t>nlp</a:t>
            </a:r>
            <a:r>
              <a:rPr lang="en-US" dirty="0"/>
              <a:t> = </a:t>
            </a:r>
            <a:r>
              <a:rPr lang="en-US" dirty="0" err="1"/>
              <a:t>spacy.load</a:t>
            </a:r>
            <a:r>
              <a:rPr lang="en-US" dirty="0"/>
              <a:t>('</a:t>
            </a:r>
            <a:r>
              <a:rPr lang="en-US" dirty="0" err="1"/>
              <a:t>en_core_web_sm</a:t>
            </a:r>
            <a:r>
              <a:rPr lang="en-US" dirty="0"/>
              <a:t>’)</a:t>
            </a:r>
          </a:p>
          <a:p>
            <a:r>
              <a:rPr lang="en-US" dirty="0">
                <a:solidFill>
                  <a:srgbClr val="0000FF"/>
                </a:solidFill>
                <a:latin typeface="Courier New" panose="02070309020205020404" pitchFamily="49" charset="0"/>
              </a:rPr>
              <a:t>()</a:t>
            </a:r>
            <a:r>
              <a:rPr lang="en-US" dirty="0"/>
              <a:t>type(</a:t>
            </a:r>
            <a:r>
              <a:rPr lang="en-US" dirty="0" err="1"/>
              <a:t>nlp</a:t>
            </a:r>
            <a:r>
              <a:rPr lang="en-US" dirty="0"/>
              <a:t>) </a:t>
            </a:r>
          </a:p>
          <a:p>
            <a:endParaRPr lang="en-US" dirty="0"/>
          </a:p>
          <a:p>
            <a:r>
              <a:rPr lang="en-US" dirty="0">
                <a:solidFill>
                  <a:srgbClr val="000000"/>
                </a:solidFill>
                <a:latin typeface="Courier New" panose="02070309020205020404" pitchFamily="49" charset="0"/>
              </a:rPr>
              <a:t> </a:t>
            </a:r>
            <a:endParaRPr lang="en-US" b="0" dirty="0">
              <a:solidFill>
                <a:srgbClr val="000000"/>
              </a:solidFill>
              <a:effectLst/>
              <a:latin typeface="Courier New" panose="02070309020205020404" pitchFamily="49" charset="0"/>
            </a:endParaRPr>
          </a:p>
        </p:txBody>
      </p:sp>
      <p:sp>
        <p:nvSpPr>
          <p:cNvPr id="4" name="Rectangle 3">
            <a:extLst>
              <a:ext uri="{FF2B5EF4-FFF2-40B4-BE49-F238E27FC236}">
                <a16:creationId xmlns:a16="http://schemas.microsoft.com/office/drawing/2014/main" id="{A84ABAF2-4C72-4290-A8FA-2F164C8285F2}"/>
              </a:ext>
            </a:extLst>
          </p:cNvPr>
          <p:cNvSpPr/>
          <p:nvPr/>
        </p:nvSpPr>
        <p:spPr>
          <a:xfrm>
            <a:off x="866365" y="1905000"/>
            <a:ext cx="4956919" cy="923330"/>
          </a:xfrm>
          <a:prstGeom prst="rect">
            <a:avLst/>
          </a:prstGeom>
        </p:spPr>
        <p:txBody>
          <a:bodyPr wrap="square">
            <a:spAutoFit/>
          </a:bodyPr>
          <a:lstStyle/>
          <a:p>
            <a:r>
              <a:rPr lang="en-US" b="1" dirty="0"/>
              <a:t>First need to import important libraries and a Small model to start our tokenization . We can do that with following code .. </a:t>
            </a:r>
          </a:p>
        </p:txBody>
      </p:sp>
      <p:sp>
        <p:nvSpPr>
          <p:cNvPr id="5" name="Rectangle 4">
            <a:extLst>
              <a:ext uri="{FF2B5EF4-FFF2-40B4-BE49-F238E27FC236}">
                <a16:creationId xmlns:a16="http://schemas.microsoft.com/office/drawing/2014/main" id="{46B2CF83-8F06-4159-AAF3-E224F20EA9BC}"/>
              </a:ext>
            </a:extLst>
          </p:cNvPr>
          <p:cNvSpPr/>
          <p:nvPr/>
        </p:nvSpPr>
        <p:spPr>
          <a:xfrm>
            <a:off x="6368718" y="1905000"/>
            <a:ext cx="5665333" cy="1950842"/>
          </a:xfrm>
          <a:prstGeom prst="rect">
            <a:avLst/>
          </a:prstGeom>
          <a:noFill/>
          <a:ln w="7620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cxnSp>
        <p:nvCxnSpPr>
          <p:cNvPr id="9" name="Connector: Elbow 8">
            <a:extLst>
              <a:ext uri="{FF2B5EF4-FFF2-40B4-BE49-F238E27FC236}">
                <a16:creationId xmlns:a16="http://schemas.microsoft.com/office/drawing/2014/main" id="{14E10864-FD5C-4E4E-A7A5-CEC2F70F0FCA}"/>
              </a:ext>
            </a:extLst>
          </p:cNvPr>
          <p:cNvCxnSpPr>
            <a:cxnSpLocks/>
            <a:stCxn id="4" idx="2"/>
          </p:cNvCxnSpPr>
          <p:nvPr/>
        </p:nvCxnSpPr>
        <p:spPr>
          <a:xfrm rot="16200000" flipH="1">
            <a:off x="4491795" y="1681360"/>
            <a:ext cx="600670" cy="2894610"/>
          </a:xfrm>
          <a:prstGeom prst="bentConnector2">
            <a:avLst/>
          </a:prstGeom>
          <a:ln>
            <a:headEnd type="arrow" w="med" len="med"/>
            <a:tailEnd type="arrow" w="med" len="med"/>
          </a:ln>
        </p:spPr>
        <p:style>
          <a:lnRef idx="3">
            <a:schemeClr val="accent4"/>
          </a:lnRef>
          <a:fillRef idx="0">
            <a:schemeClr val="accent4"/>
          </a:fillRef>
          <a:effectRef idx="2">
            <a:schemeClr val="accent4"/>
          </a:effectRef>
          <a:fontRef idx="minor">
            <a:schemeClr val="tx1"/>
          </a:fontRef>
        </p:style>
      </p:cxnSp>
      <p:pic>
        <p:nvPicPr>
          <p:cNvPr id="11" name="Picture 10">
            <a:extLst>
              <a:ext uri="{FF2B5EF4-FFF2-40B4-BE49-F238E27FC236}">
                <a16:creationId xmlns:a16="http://schemas.microsoft.com/office/drawing/2014/main" id="{20B9C5B0-0489-41BC-BE00-90C2CAF01736}"/>
              </a:ext>
            </a:extLst>
          </p:cNvPr>
          <p:cNvPicPr>
            <a:picLocks noChangeAspect="1"/>
          </p:cNvPicPr>
          <p:nvPr/>
        </p:nvPicPr>
        <p:blipFill>
          <a:blip r:embed="rId2"/>
          <a:stretch>
            <a:fillRect/>
          </a:stretch>
        </p:blipFill>
        <p:spPr>
          <a:xfrm>
            <a:off x="6432884" y="4093607"/>
            <a:ext cx="5759115" cy="4841845"/>
          </a:xfrm>
          <a:prstGeom prst="rect">
            <a:avLst/>
          </a:prstGeom>
        </p:spPr>
      </p:pic>
      <p:sp>
        <p:nvSpPr>
          <p:cNvPr id="14" name="Rectangle 13">
            <a:extLst>
              <a:ext uri="{FF2B5EF4-FFF2-40B4-BE49-F238E27FC236}">
                <a16:creationId xmlns:a16="http://schemas.microsoft.com/office/drawing/2014/main" id="{CFF0597D-B817-4AC5-85C2-0839BCDA18F1}"/>
              </a:ext>
            </a:extLst>
          </p:cNvPr>
          <p:cNvSpPr/>
          <p:nvPr/>
        </p:nvSpPr>
        <p:spPr>
          <a:xfrm>
            <a:off x="1411799" y="4306670"/>
            <a:ext cx="4956919" cy="646331"/>
          </a:xfrm>
          <a:prstGeom prst="rect">
            <a:avLst/>
          </a:prstGeom>
        </p:spPr>
        <p:txBody>
          <a:bodyPr wrap="square">
            <a:spAutoFit/>
          </a:bodyPr>
          <a:lstStyle/>
          <a:p>
            <a:r>
              <a:rPr lang="en-US" b="1" dirty="0"/>
              <a:t>Next we can test tokenization with a sample text …</a:t>
            </a:r>
          </a:p>
        </p:txBody>
      </p:sp>
      <p:cxnSp>
        <p:nvCxnSpPr>
          <p:cNvPr id="20" name="Connector: Elbow 19">
            <a:extLst>
              <a:ext uri="{FF2B5EF4-FFF2-40B4-BE49-F238E27FC236}">
                <a16:creationId xmlns:a16="http://schemas.microsoft.com/office/drawing/2014/main" id="{7B29D9F7-4DCE-4E1D-A894-7E48F001E538}"/>
              </a:ext>
            </a:extLst>
          </p:cNvPr>
          <p:cNvCxnSpPr>
            <a:cxnSpLocks/>
          </p:cNvCxnSpPr>
          <p:nvPr/>
        </p:nvCxnSpPr>
        <p:spPr>
          <a:xfrm>
            <a:off x="3332296" y="4844360"/>
            <a:ext cx="2763704" cy="559469"/>
          </a:xfrm>
          <a:prstGeom prst="bentConnector3">
            <a:avLst>
              <a:gd name="adj1" fmla="val 50000"/>
            </a:avLst>
          </a:prstGeom>
          <a:ln>
            <a:headEnd type="arrow" w="med" len="med"/>
            <a:tailEnd type="arrow" w="med" len="med"/>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937562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6B1C80-386B-46D1-B313-8F93C33A6F2E}"/>
              </a:ext>
            </a:extLst>
          </p:cNvPr>
          <p:cNvPicPr>
            <a:picLocks noChangeAspect="1"/>
          </p:cNvPicPr>
          <p:nvPr/>
        </p:nvPicPr>
        <p:blipFill>
          <a:blip r:embed="rId2"/>
          <a:stretch>
            <a:fillRect/>
          </a:stretch>
        </p:blipFill>
        <p:spPr>
          <a:xfrm>
            <a:off x="1918161" y="1337595"/>
            <a:ext cx="9760491" cy="5063205"/>
          </a:xfrm>
          <a:prstGeom prst="rect">
            <a:avLst/>
          </a:prstGeom>
        </p:spPr>
      </p:pic>
    </p:spTree>
    <p:extLst>
      <p:ext uri="{BB962C8B-B14F-4D97-AF65-F5344CB8AC3E}">
        <p14:creationId xmlns:p14="http://schemas.microsoft.com/office/powerpoint/2010/main" val="854559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DDF41-1D5C-49E7-8878-3506A55798CA}"/>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3FF4173B-9900-4E26-8EFA-472F048388E0}"/>
              </a:ext>
            </a:extLst>
          </p:cNvPr>
          <p:cNvPicPr>
            <a:picLocks noChangeAspect="1"/>
          </p:cNvPicPr>
          <p:nvPr/>
        </p:nvPicPr>
        <p:blipFill>
          <a:blip r:embed="rId2"/>
          <a:stretch>
            <a:fillRect/>
          </a:stretch>
        </p:blipFill>
        <p:spPr>
          <a:xfrm>
            <a:off x="0" y="0"/>
            <a:ext cx="12156955" cy="6673516"/>
          </a:xfrm>
          <a:prstGeom prst="rect">
            <a:avLst/>
          </a:prstGeom>
        </p:spPr>
      </p:pic>
    </p:spTree>
    <p:extLst>
      <p:ext uri="{BB962C8B-B14F-4D97-AF65-F5344CB8AC3E}">
        <p14:creationId xmlns:p14="http://schemas.microsoft.com/office/powerpoint/2010/main" val="3178991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4EC040-3F42-4B47-B749-178378B04F35}"/>
              </a:ext>
            </a:extLst>
          </p:cNvPr>
          <p:cNvPicPr>
            <a:picLocks noChangeAspect="1"/>
          </p:cNvPicPr>
          <p:nvPr/>
        </p:nvPicPr>
        <p:blipFill>
          <a:blip r:embed="rId2"/>
          <a:stretch>
            <a:fillRect/>
          </a:stretch>
        </p:blipFill>
        <p:spPr>
          <a:xfrm>
            <a:off x="896077" y="2259227"/>
            <a:ext cx="10745827" cy="4350119"/>
          </a:xfrm>
          <a:prstGeom prst="rect">
            <a:avLst/>
          </a:prstGeom>
        </p:spPr>
      </p:pic>
      <p:sp>
        <p:nvSpPr>
          <p:cNvPr id="2" name="Title 1">
            <a:extLst>
              <a:ext uri="{FF2B5EF4-FFF2-40B4-BE49-F238E27FC236}">
                <a16:creationId xmlns:a16="http://schemas.microsoft.com/office/drawing/2014/main" id="{1D2C4935-B4C0-49F6-ACA8-E9E55BAE383A}"/>
              </a:ext>
            </a:extLst>
          </p:cNvPr>
          <p:cNvSpPr>
            <a:spLocks noGrp="1"/>
          </p:cNvSpPr>
          <p:nvPr>
            <p:ph type="title"/>
          </p:nvPr>
        </p:nvSpPr>
        <p:spPr/>
        <p:txBody>
          <a:bodyPr/>
          <a:lstStyle/>
          <a:p>
            <a:r>
              <a:rPr lang="en-US" dirty="0"/>
              <a:t>Code implementation of Case folding </a:t>
            </a:r>
          </a:p>
        </p:txBody>
      </p:sp>
    </p:spTree>
    <p:extLst>
      <p:ext uri="{BB962C8B-B14F-4D97-AF65-F5344CB8AC3E}">
        <p14:creationId xmlns:p14="http://schemas.microsoft.com/office/powerpoint/2010/main" val="3953462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E7B885-08F2-427E-85B0-997D535A81C0}"/>
              </a:ext>
            </a:extLst>
          </p:cNvPr>
          <p:cNvPicPr>
            <a:picLocks noChangeAspect="1"/>
          </p:cNvPicPr>
          <p:nvPr/>
        </p:nvPicPr>
        <p:blipFill>
          <a:blip r:embed="rId2"/>
          <a:stretch>
            <a:fillRect/>
          </a:stretch>
        </p:blipFill>
        <p:spPr>
          <a:xfrm>
            <a:off x="0" y="0"/>
            <a:ext cx="12256570" cy="6858000"/>
          </a:xfrm>
          <a:prstGeom prst="rect">
            <a:avLst/>
          </a:prstGeom>
        </p:spPr>
      </p:pic>
    </p:spTree>
    <p:extLst>
      <p:ext uri="{BB962C8B-B14F-4D97-AF65-F5344CB8AC3E}">
        <p14:creationId xmlns:p14="http://schemas.microsoft.com/office/powerpoint/2010/main" val="345292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1364C-2B3D-4188-912F-B94B5D3073A4}"/>
              </a:ext>
            </a:extLst>
          </p:cNvPr>
          <p:cNvSpPr>
            <a:spLocks noGrp="1"/>
          </p:cNvSpPr>
          <p:nvPr>
            <p:ph type="title"/>
          </p:nvPr>
        </p:nvSpPr>
        <p:spPr/>
        <p:txBody>
          <a:bodyPr/>
          <a:lstStyle/>
          <a:p>
            <a:r>
              <a:rPr lang="en-US" dirty="0"/>
              <a:t>Code implementation of Stop Word Removal</a:t>
            </a:r>
          </a:p>
        </p:txBody>
      </p:sp>
      <p:pic>
        <p:nvPicPr>
          <p:cNvPr id="3" name="Picture 2">
            <a:extLst>
              <a:ext uri="{FF2B5EF4-FFF2-40B4-BE49-F238E27FC236}">
                <a16:creationId xmlns:a16="http://schemas.microsoft.com/office/drawing/2014/main" id="{45017893-16F0-4810-8A1C-04C742A0232A}"/>
              </a:ext>
            </a:extLst>
          </p:cNvPr>
          <p:cNvPicPr>
            <a:picLocks noChangeAspect="1"/>
          </p:cNvPicPr>
          <p:nvPr/>
        </p:nvPicPr>
        <p:blipFill>
          <a:blip r:embed="rId2"/>
          <a:stretch>
            <a:fillRect/>
          </a:stretch>
        </p:blipFill>
        <p:spPr>
          <a:xfrm>
            <a:off x="1767764" y="2320193"/>
            <a:ext cx="10352751" cy="3913697"/>
          </a:xfrm>
          <a:prstGeom prst="rect">
            <a:avLst/>
          </a:prstGeom>
        </p:spPr>
      </p:pic>
    </p:spTree>
    <p:extLst>
      <p:ext uri="{BB962C8B-B14F-4D97-AF65-F5344CB8AC3E}">
        <p14:creationId xmlns:p14="http://schemas.microsoft.com/office/powerpoint/2010/main" val="3645801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E65F-CF1F-40B7-94D1-138B8026C5F2}"/>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03CCB7E8-3E98-49EA-80FD-3999477E0092}"/>
              </a:ext>
            </a:extLst>
          </p:cNvPr>
          <p:cNvPicPr>
            <a:picLocks noChangeAspect="1"/>
          </p:cNvPicPr>
          <p:nvPr/>
        </p:nvPicPr>
        <p:blipFill>
          <a:blip r:embed="rId2"/>
          <a:stretch>
            <a:fillRect/>
          </a:stretch>
        </p:blipFill>
        <p:spPr>
          <a:xfrm>
            <a:off x="0" y="0"/>
            <a:ext cx="12200545" cy="6858000"/>
          </a:xfrm>
          <a:prstGeom prst="rect">
            <a:avLst/>
          </a:prstGeom>
        </p:spPr>
      </p:pic>
    </p:spTree>
    <p:extLst>
      <p:ext uri="{BB962C8B-B14F-4D97-AF65-F5344CB8AC3E}">
        <p14:creationId xmlns:p14="http://schemas.microsoft.com/office/powerpoint/2010/main" val="104175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9AF4-928A-47FF-A365-5B3DE1F6BB1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EE67CD16-ABC3-4400-9149-516EDE87E2F9}"/>
              </a:ext>
            </a:extLst>
          </p:cNvPr>
          <p:cNvPicPr>
            <a:picLocks noChangeAspect="1"/>
          </p:cNvPicPr>
          <p:nvPr/>
        </p:nvPicPr>
        <p:blipFill>
          <a:blip r:embed="rId2"/>
          <a:stretch>
            <a:fillRect/>
          </a:stretch>
        </p:blipFill>
        <p:spPr>
          <a:xfrm>
            <a:off x="-4222" y="0"/>
            <a:ext cx="12196222" cy="6858000"/>
          </a:xfrm>
          <a:prstGeom prst="rect">
            <a:avLst/>
          </a:prstGeom>
        </p:spPr>
      </p:pic>
    </p:spTree>
    <p:extLst>
      <p:ext uri="{BB962C8B-B14F-4D97-AF65-F5344CB8AC3E}">
        <p14:creationId xmlns:p14="http://schemas.microsoft.com/office/powerpoint/2010/main" val="958666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034C9-B724-40D8-8114-A3A1702116D0}"/>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B41FE92D-A004-4C9D-AAFA-37AE44813520}"/>
              </a:ext>
            </a:extLst>
          </p:cNvPr>
          <p:cNvPicPr>
            <a:picLocks noChangeAspect="1"/>
          </p:cNvPicPr>
          <p:nvPr/>
        </p:nvPicPr>
        <p:blipFill>
          <a:blip r:embed="rId2"/>
          <a:stretch>
            <a:fillRect/>
          </a:stretch>
        </p:blipFill>
        <p:spPr>
          <a:xfrm>
            <a:off x="-1" y="-46021"/>
            <a:ext cx="12206513" cy="6904021"/>
          </a:xfrm>
          <a:prstGeom prst="rect">
            <a:avLst/>
          </a:prstGeom>
        </p:spPr>
      </p:pic>
    </p:spTree>
    <p:extLst>
      <p:ext uri="{BB962C8B-B14F-4D97-AF65-F5344CB8AC3E}">
        <p14:creationId xmlns:p14="http://schemas.microsoft.com/office/powerpoint/2010/main" val="2935903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CDC9-F6DB-4304-8BC2-85BDA6A74F45}"/>
              </a:ext>
            </a:extLst>
          </p:cNvPr>
          <p:cNvSpPr>
            <a:spLocks noGrp="1"/>
          </p:cNvSpPr>
          <p:nvPr>
            <p:ph type="title"/>
          </p:nvPr>
        </p:nvSpPr>
        <p:spPr/>
        <p:txBody>
          <a:bodyPr/>
          <a:lstStyle/>
          <a:p>
            <a:r>
              <a:rPr lang="en-US" dirty="0"/>
              <a:t>Tradeoffs of Lemmatization</a:t>
            </a:r>
          </a:p>
        </p:txBody>
      </p:sp>
      <p:pic>
        <p:nvPicPr>
          <p:cNvPr id="4" name="Picture 3">
            <a:extLst>
              <a:ext uri="{FF2B5EF4-FFF2-40B4-BE49-F238E27FC236}">
                <a16:creationId xmlns:a16="http://schemas.microsoft.com/office/drawing/2014/main" id="{7793865A-CD3A-4646-8520-4A46C664AD07}"/>
              </a:ext>
            </a:extLst>
          </p:cNvPr>
          <p:cNvPicPr>
            <a:picLocks noChangeAspect="1"/>
          </p:cNvPicPr>
          <p:nvPr/>
        </p:nvPicPr>
        <p:blipFill>
          <a:blip r:embed="rId2"/>
          <a:stretch>
            <a:fillRect/>
          </a:stretch>
        </p:blipFill>
        <p:spPr>
          <a:xfrm>
            <a:off x="834190" y="2273968"/>
            <a:ext cx="11085095" cy="3133597"/>
          </a:xfrm>
          <a:prstGeom prst="rect">
            <a:avLst/>
          </a:prstGeom>
        </p:spPr>
      </p:pic>
    </p:spTree>
    <p:extLst>
      <p:ext uri="{BB962C8B-B14F-4D97-AF65-F5344CB8AC3E}">
        <p14:creationId xmlns:p14="http://schemas.microsoft.com/office/powerpoint/2010/main" val="3614038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29FC-7FF4-4090-B809-64F54F9AA89B}"/>
              </a:ext>
            </a:extLst>
          </p:cNvPr>
          <p:cNvSpPr>
            <a:spLocks noGrp="1"/>
          </p:cNvSpPr>
          <p:nvPr>
            <p:ph type="title"/>
          </p:nvPr>
        </p:nvSpPr>
        <p:spPr/>
        <p:txBody>
          <a:bodyPr/>
          <a:lstStyle/>
          <a:p>
            <a:r>
              <a:rPr lang="en-US" dirty="0"/>
              <a:t>Code implementation of Lemmatization</a:t>
            </a:r>
          </a:p>
        </p:txBody>
      </p:sp>
      <p:pic>
        <p:nvPicPr>
          <p:cNvPr id="3" name="Picture 2">
            <a:extLst>
              <a:ext uri="{FF2B5EF4-FFF2-40B4-BE49-F238E27FC236}">
                <a16:creationId xmlns:a16="http://schemas.microsoft.com/office/drawing/2014/main" id="{1794A8AE-0DBD-4254-8148-AEA2C58905FA}"/>
              </a:ext>
            </a:extLst>
          </p:cNvPr>
          <p:cNvPicPr>
            <a:picLocks noChangeAspect="1"/>
          </p:cNvPicPr>
          <p:nvPr/>
        </p:nvPicPr>
        <p:blipFill>
          <a:blip r:embed="rId2"/>
          <a:stretch>
            <a:fillRect/>
          </a:stretch>
        </p:blipFill>
        <p:spPr>
          <a:xfrm>
            <a:off x="2074166" y="2311332"/>
            <a:ext cx="8656950" cy="4169679"/>
          </a:xfrm>
          <a:prstGeom prst="rect">
            <a:avLst/>
          </a:prstGeom>
        </p:spPr>
      </p:pic>
    </p:spTree>
    <p:extLst>
      <p:ext uri="{BB962C8B-B14F-4D97-AF65-F5344CB8AC3E}">
        <p14:creationId xmlns:p14="http://schemas.microsoft.com/office/powerpoint/2010/main" val="452228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D832-C1E3-B0AF-6AB9-2218A5512D64}"/>
              </a:ext>
            </a:extLst>
          </p:cNvPr>
          <p:cNvSpPr>
            <a:spLocks noGrp="1"/>
          </p:cNvSpPr>
          <p:nvPr>
            <p:ph type="title"/>
          </p:nvPr>
        </p:nvSpPr>
        <p:spPr/>
        <p:txBody>
          <a:bodyPr/>
          <a:lstStyle/>
          <a:p>
            <a:r>
              <a:rPr lang="en-US" dirty="0"/>
              <a:t>Advanced Preprocessing</a:t>
            </a:r>
          </a:p>
        </p:txBody>
      </p:sp>
      <p:sp>
        <p:nvSpPr>
          <p:cNvPr id="3" name="Content Placeholder 2">
            <a:extLst>
              <a:ext uri="{FF2B5EF4-FFF2-40B4-BE49-F238E27FC236}">
                <a16:creationId xmlns:a16="http://schemas.microsoft.com/office/drawing/2014/main" id="{48698B1A-F0F5-D037-1579-00B7EEA463F6}"/>
              </a:ext>
            </a:extLst>
          </p:cNvPr>
          <p:cNvSpPr>
            <a:spLocks noGrp="1"/>
          </p:cNvSpPr>
          <p:nvPr>
            <p:ph idx="1"/>
          </p:nvPr>
        </p:nvSpPr>
        <p:spPr/>
        <p:txBody>
          <a:bodyPr>
            <a:normAutofit/>
          </a:bodyPr>
          <a:lstStyle/>
          <a:p>
            <a:r>
              <a:rPr lang="en-US" sz="3200" dirty="0"/>
              <a:t>Prat-of-speech tagging</a:t>
            </a:r>
          </a:p>
          <a:p>
            <a:r>
              <a:rPr lang="en-US" sz="3200" dirty="0"/>
              <a:t>Named entity recognition and parsing</a:t>
            </a:r>
          </a:p>
          <a:p>
            <a:endParaRPr lang="en-US" sz="3200" dirty="0"/>
          </a:p>
        </p:txBody>
      </p:sp>
    </p:spTree>
    <p:extLst>
      <p:ext uri="{BB962C8B-B14F-4D97-AF65-F5344CB8AC3E}">
        <p14:creationId xmlns:p14="http://schemas.microsoft.com/office/powerpoint/2010/main" val="2718777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DAA708-4D75-E99C-6575-D1EEC92C7F13}"/>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1348248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9008F-8206-9F5B-DA96-3B3FC9DB9120}"/>
              </a:ext>
            </a:extLst>
          </p:cNvPr>
          <p:cNvSpPr>
            <a:spLocks noGrp="1"/>
          </p:cNvSpPr>
          <p:nvPr>
            <p:ph type="title"/>
          </p:nvPr>
        </p:nvSpPr>
        <p:spPr/>
        <p:txBody>
          <a:bodyPr/>
          <a:lstStyle/>
          <a:p>
            <a:r>
              <a:rPr lang="en-US" dirty="0"/>
              <a:t>Code implementation of POS Tagging</a:t>
            </a:r>
          </a:p>
        </p:txBody>
      </p:sp>
      <p:pic>
        <p:nvPicPr>
          <p:cNvPr id="7" name="Content Placeholder 6">
            <a:extLst>
              <a:ext uri="{FF2B5EF4-FFF2-40B4-BE49-F238E27FC236}">
                <a16:creationId xmlns:a16="http://schemas.microsoft.com/office/drawing/2014/main" id="{A8F19EF4-9D29-92AC-3587-1D2D9B9B831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589213" y="2393083"/>
            <a:ext cx="4313237" cy="3259283"/>
          </a:xfrm>
          <a:prstGeom prst="rect">
            <a:avLst/>
          </a:prstGeom>
        </p:spPr>
      </p:pic>
      <p:pic>
        <p:nvPicPr>
          <p:cNvPr id="8" name="Content Placeholder 7">
            <a:extLst>
              <a:ext uri="{FF2B5EF4-FFF2-40B4-BE49-F238E27FC236}">
                <a16:creationId xmlns:a16="http://schemas.microsoft.com/office/drawing/2014/main" id="{B2029C00-658C-36B0-221D-1505092E2E8B}"/>
              </a:ext>
            </a:extLst>
          </p:cNvPr>
          <p:cNvPicPr>
            <a:picLocks noGrp="1" noChangeAspect="1"/>
          </p:cNvPicPr>
          <p:nvPr>
            <p:ph sz="half" idx="2"/>
          </p:nvPr>
        </p:nvPicPr>
        <p:blipFill>
          <a:blip r:embed="rId3"/>
          <a:stretch>
            <a:fillRect/>
          </a:stretch>
        </p:blipFill>
        <p:spPr>
          <a:xfrm>
            <a:off x="7355191" y="2393083"/>
            <a:ext cx="3985605" cy="3259283"/>
          </a:xfrm>
          <a:prstGeom prst="rect">
            <a:avLst/>
          </a:prstGeom>
        </p:spPr>
      </p:pic>
    </p:spTree>
    <p:extLst>
      <p:ext uri="{BB962C8B-B14F-4D97-AF65-F5344CB8AC3E}">
        <p14:creationId xmlns:p14="http://schemas.microsoft.com/office/powerpoint/2010/main" val="2998423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A865F-FD75-6F3D-9E80-1502BAC96C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FB8CCD-984A-7146-2AF8-EDE33C3B07F9}"/>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A550DB0-ACBD-A75D-9ECC-E94CBA8044D2}"/>
              </a:ext>
            </a:extLst>
          </p:cNvPr>
          <p:cNvSpPr>
            <a:spLocks noGrp="1"/>
          </p:cNvSpPr>
          <p:nvPr>
            <p:ph sz="half" idx="2"/>
          </p:nvPr>
        </p:nvSpPr>
        <p:spPr/>
        <p:txBody>
          <a:bodyPr/>
          <a:lstStyle/>
          <a:p>
            <a:endParaRPr lang="en-US"/>
          </a:p>
        </p:txBody>
      </p:sp>
      <p:pic>
        <p:nvPicPr>
          <p:cNvPr id="5" name="Picture 4">
            <a:extLst>
              <a:ext uri="{FF2B5EF4-FFF2-40B4-BE49-F238E27FC236}">
                <a16:creationId xmlns:a16="http://schemas.microsoft.com/office/drawing/2014/main" id="{4224E114-AE42-8495-96F0-AF9264172FF6}"/>
              </a:ext>
            </a:extLst>
          </p:cNvPr>
          <p:cNvPicPr>
            <a:picLocks noChangeAspect="1"/>
          </p:cNvPicPr>
          <p:nvPr/>
        </p:nvPicPr>
        <p:blipFill>
          <a:blip r:embed="rId2"/>
          <a:stretch>
            <a:fillRect/>
          </a:stretch>
        </p:blipFill>
        <p:spPr>
          <a:xfrm>
            <a:off x="0" y="-15539"/>
            <a:ext cx="12304295" cy="6873539"/>
          </a:xfrm>
          <a:prstGeom prst="rect">
            <a:avLst/>
          </a:prstGeom>
        </p:spPr>
      </p:pic>
    </p:spTree>
    <p:extLst>
      <p:ext uri="{BB962C8B-B14F-4D97-AF65-F5344CB8AC3E}">
        <p14:creationId xmlns:p14="http://schemas.microsoft.com/office/powerpoint/2010/main" val="141122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DB5BA-13B9-B232-983E-94C7B18DFA8B}"/>
              </a:ext>
            </a:extLst>
          </p:cNvPr>
          <p:cNvSpPr>
            <a:spLocks noGrp="1"/>
          </p:cNvSpPr>
          <p:nvPr>
            <p:ph type="title" idx="4294967295"/>
          </p:nvPr>
        </p:nvSpPr>
        <p:spPr>
          <a:xfrm>
            <a:off x="3279775" y="201613"/>
            <a:ext cx="8912225" cy="1281112"/>
          </a:xfrm>
        </p:spPr>
        <p:txBody>
          <a:bodyPr/>
          <a:lstStyle/>
          <a:p>
            <a:r>
              <a:rPr lang="en-US" dirty="0"/>
              <a:t>Why NER is useful?</a:t>
            </a:r>
          </a:p>
        </p:txBody>
      </p:sp>
      <p:pic>
        <p:nvPicPr>
          <p:cNvPr id="5" name="Picture 4">
            <a:extLst>
              <a:ext uri="{FF2B5EF4-FFF2-40B4-BE49-F238E27FC236}">
                <a16:creationId xmlns:a16="http://schemas.microsoft.com/office/drawing/2014/main" id="{F668951E-A972-BC44-8F68-0152373CFF59}"/>
              </a:ext>
            </a:extLst>
          </p:cNvPr>
          <p:cNvPicPr>
            <a:picLocks noChangeAspect="1"/>
          </p:cNvPicPr>
          <p:nvPr/>
        </p:nvPicPr>
        <p:blipFill>
          <a:blip r:embed="rId2"/>
          <a:stretch>
            <a:fillRect/>
          </a:stretch>
        </p:blipFill>
        <p:spPr>
          <a:xfrm>
            <a:off x="1" y="1482810"/>
            <a:ext cx="12192000" cy="2415155"/>
          </a:xfrm>
          <a:prstGeom prst="rect">
            <a:avLst/>
          </a:prstGeom>
        </p:spPr>
      </p:pic>
      <p:pic>
        <p:nvPicPr>
          <p:cNvPr id="6" name="Picture 5">
            <a:extLst>
              <a:ext uri="{FF2B5EF4-FFF2-40B4-BE49-F238E27FC236}">
                <a16:creationId xmlns:a16="http://schemas.microsoft.com/office/drawing/2014/main" id="{B8CAD94C-0D7D-F9BB-4BCE-108C21C56D4A}"/>
              </a:ext>
            </a:extLst>
          </p:cNvPr>
          <p:cNvPicPr>
            <a:picLocks noChangeAspect="1"/>
          </p:cNvPicPr>
          <p:nvPr/>
        </p:nvPicPr>
        <p:blipFill>
          <a:blip r:embed="rId3"/>
          <a:stretch>
            <a:fillRect/>
          </a:stretch>
        </p:blipFill>
        <p:spPr>
          <a:xfrm>
            <a:off x="0" y="3897965"/>
            <a:ext cx="12182325" cy="2960035"/>
          </a:xfrm>
          <a:prstGeom prst="rect">
            <a:avLst/>
          </a:prstGeom>
        </p:spPr>
      </p:pic>
    </p:spTree>
    <p:extLst>
      <p:ext uri="{BB962C8B-B14F-4D97-AF65-F5344CB8AC3E}">
        <p14:creationId xmlns:p14="http://schemas.microsoft.com/office/powerpoint/2010/main" val="1323086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8A62325-8141-227D-9844-2A99C94C77C4}"/>
              </a:ext>
            </a:extLst>
          </p:cNvPr>
          <p:cNvSpPr>
            <a:spLocks noGrp="1"/>
          </p:cNvSpPr>
          <p:nvPr>
            <p:ph type="title"/>
          </p:nvPr>
        </p:nvSpPr>
        <p:spPr/>
        <p:txBody>
          <a:bodyPr/>
          <a:lstStyle/>
          <a:p>
            <a:r>
              <a:rPr lang="en-US" dirty="0"/>
              <a:t>Code implementation of NER Tagging</a:t>
            </a:r>
          </a:p>
        </p:txBody>
      </p:sp>
      <p:pic>
        <p:nvPicPr>
          <p:cNvPr id="10" name="Content Placeholder 9">
            <a:extLst>
              <a:ext uri="{FF2B5EF4-FFF2-40B4-BE49-F238E27FC236}">
                <a16:creationId xmlns:a16="http://schemas.microsoft.com/office/drawing/2014/main" id="{5278081F-ED87-74E8-E9FD-302A851EFAE0}"/>
              </a:ext>
            </a:extLst>
          </p:cNvPr>
          <p:cNvPicPr>
            <a:picLocks noGrp="1" noChangeAspect="1"/>
          </p:cNvPicPr>
          <p:nvPr>
            <p:ph sz="half" idx="1"/>
          </p:nvPr>
        </p:nvPicPr>
        <p:blipFill>
          <a:blip r:embed="rId2"/>
          <a:stretch>
            <a:fillRect/>
          </a:stretch>
        </p:blipFill>
        <p:spPr>
          <a:xfrm>
            <a:off x="2589213" y="2891430"/>
            <a:ext cx="4313237" cy="3342459"/>
          </a:xfrm>
          <a:prstGeom prst="rect">
            <a:avLst/>
          </a:prstGeom>
        </p:spPr>
      </p:pic>
      <p:pic>
        <p:nvPicPr>
          <p:cNvPr id="11" name="Content Placeholder 10">
            <a:extLst>
              <a:ext uri="{FF2B5EF4-FFF2-40B4-BE49-F238E27FC236}">
                <a16:creationId xmlns:a16="http://schemas.microsoft.com/office/drawing/2014/main" id="{8E2DEF74-B094-B799-5B20-E7E7EA26DD00}"/>
              </a:ext>
            </a:extLst>
          </p:cNvPr>
          <p:cNvPicPr>
            <a:picLocks noGrp="1" noChangeAspect="1"/>
          </p:cNvPicPr>
          <p:nvPr>
            <p:ph sz="half" idx="2"/>
          </p:nvPr>
        </p:nvPicPr>
        <p:blipFill>
          <a:blip r:embed="rId3"/>
          <a:stretch>
            <a:fillRect/>
          </a:stretch>
        </p:blipFill>
        <p:spPr>
          <a:xfrm>
            <a:off x="7191375" y="2891430"/>
            <a:ext cx="4313238" cy="3342459"/>
          </a:xfrm>
          <a:prstGeom prst="rect">
            <a:avLst/>
          </a:prstGeom>
        </p:spPr>
      </p:pic>
    </p:spTree>
    <p:extLst>
      <p:ext uri="{BB962C8B-B14F-4D97-AF65-F5344CB8AC3E}">
        <p14:creationId xmlns:p14="http://schemas.microsoft.com/office/powerpoint/2010/main" val="1735354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E7B51B-03D3-37F7-895E-FB1188F31946}"/>
              </a:ext>
            </a:extLst>
          </p:cNvPr>
          <p:cNvPicPr>
            <a:picLocks noChangeAspect="1"/>
          </p:cNvPicPr>
          <p:nvPr/>
        </p:nvPicPr>
        <p:blipFill>
          <a:blip r:embed="rId2"/>
          <a:stretch>
            <a:fillRect/>
          </a:stretch>
        </p:blipFill>
        <p:spPr>
          <a:xfrm>
            <a:off x="1" y="12032"/>
            <a:ext cx="12192000" cy="6845968"/>
          </a:xfrm>
          <a:prstGeom prst="rect">
            <a:avLst/>
          </a:prstGeom>
        </p:spPr>
      </p:pic>
    </p:spTree>
    <p:extLst>
      <p:ext uri="{BB962C8B-B14F-4D97-AF65-F5344CB8AC3E}">
        <p14:creationId xmlns:p14="http://schemas.microsoft.com/office/powerpoint/2010/main" val="1928875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ADACAD-64C9-9473-BB11-53D1D8A5DCB4}"/>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2393064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44208E-24BD-3523-5771-AA988C9C55A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04287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02A2CF-638D-A5A9-8A31-E67C1D3CA687}"/>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1853278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98A4D6-3ABF-81AB-057A-36C0A73F8712}"/>
              </a:ext>
            </a:extLst>
          </p:cNvPr>
          <p:cNvPicPr>
            <a:picLocks noChangeAspect="1"/>
          </p:cNvPicPr>
          <p:nvPr/>
        </p:nvPicPr>
        <p:blipFill>
          <a:blip r:embed="rId2"/>
          <a:stretch>
            <a:fillRect/>
          </a:stretch>
        </p:blipFill>
        <p:spPr>
          <a:xfrm>
            <a:off x="-16042" y="-1"/>
            <a:ext cx="12192000" cy="6858001"/>
          </a:xfrm>
          <a:prstGeom prst="rect">
            <a:avLst/>
          </a:prstGeom>
        </p:spPr>
      </p:pic>
    </p:spTree>
    <p:extLst>
      <p:ext uri="{BB962C8B-B14F-4D97-AF65-F5344CB8AC3E}">
        <p14:creationId xmlns:p14="http://schemas.microsoft.com/office/powerpoint/2010/main" val="3771456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4D6E8B-93F2-7BBB-0722-07928284E43A}"/>
              </a:ext>
            </a:extLst>
          </p:cNvPr>
          <p:cNvPicPr>
            <a:picLocks noChangeAspect="1"/>
          </p:cNvPicPr>
          <p:nvPr/>
        </p:nvPicPr>
        <p:blipFill>
          <a:blip r:embed="rId2"/>
          <a:stretch>
            <a:fillRect/>
          </a:stretch>
        </p:blipFill>
        <p:spPr>
          <a:xfrm>
            <a:off x="-2" y="0"/>
            <a:ext cx="12448675" cy="6858000"/>
          </a:xfrm>
          <a:prstGeom prst="rect">
            <a:avLst/>
          </a:prstGeom>
        </p:spPr>
      </p:pic>
    </p:spTree>
    <p:extLst>
      <p:ext uri="{BB962C8B-B14F-4D97-AF65-F5344CB8AC3E}">
        <p14:creationId xmlns:p14="http://schemas.microsoft.com/office/powerpoint/2010/main" val="2365165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E97576-1169-A10F-F75B-3BC93FFDAF28}"/>
              </a:ext>
            </a:extLst>
          </p:cNvPr>
          <p:cNvPicPr>
            <a:picLocks noChangeAspect="1"/>
          </p:cNvPicPr>
          <p:nvPr/>
        </p:nvPicPr>
        <p:blipFill>
          <a:blip r:embed="rId2"/>
          <a:stretch>
            <a:fillRect/>
          </a:stretch>
        </p:blipFill>
        <p:spPr>
          <a:xfrm>
            <a:off x="15499" y="0"/>
            <a:ext cx="12159916" cy="6858000"/>
          </a:xfrm>
          <a:prstGeom prst="rect">
            <a:avLst/>
          </a:prstGeom>
        </p:spPr>
      </p:pic>
    </p:spTree>
    <p:extLst>
      <p:ext uri="{BB962C8B-B14F-4D97-AF65-F5344CB8AC3E}">
        <p14:creationId xmlns:p14="http://schemas.microsoft.com/office/powerpoint/2010/main" val="197366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848F3C-8BB0-154F-B6C3-C9AA03D2614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59006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FC9B4C-F575-2802-32A7-622F34C4C45F}"/>
              </a:ext>
            </a:extLst>
          </p:cNvPr>
          <p:cNvPicPr>
            <a:picLocks noChangeAspect="1"/>
          </p:cNvPicPr>
          <p:nvPr/>
        </p:nvPicPr>
        <p:blipFill>
          <a:blip r:embed="rId2"/>
          <a:stretch>
            <a:fillRect/>
          </a:stretch>
        </p:blipFill>
        <p:spPr>
          <a:xfrm>
            <a:off x="-1" y="0"/>
            <a:ext cx="12192001" cy="6858000"/>
          </a:xfrm>
          <a:prstGeom prst="rect">
            <a:avLst/>
          </a:prstGeom>
        </p:spPr>
      </p:pic>
    </p:spTree>
    <p:extLst>
      <p:ext uri="{BB962C8B-B14F-4D97-AF65-F5344CB8AC3E}">
        <p14:creationId xmlns:p14="http://schemas.microsoft.com/office/powerpoint/2010/main" val="1406640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C3F1DC-C44B-41EE-9BE1-9C56AD6E902A}"/>
              </a:ext>
            </a:extLst>
          </p:cNvPr>
          <p:cNvSpPr>
            <a:spLocks noGrp="1"/>
          </p:cNvSpPr>
          <p:nvPr>
            <p:ph type="title"/>
          </p:nvPr>
        </p:nvSpPr>
        <p:spPr/>
        <p:txBody>
          <a:bodyPr/>
          <a:lstStyle/>
          <a:p>
            <a:r>
              <a:rPr lang="en-US" dirty="0"/>
              <a:t>Thank You</a:t>
            </a:r>
          </a:p>
        </p:txBody>
      </p:sp>
      <p:pic>
        <p:nvPicPr>
          <p:cNvPr id="6" name="Graphic 5" descr="Questions RTL">
            <a:extLst>
              <a:ext uri="{FF2B5EF4-FFF2-40B4-BE49-F238E27FC236}">
                <a16:creationId xmlns:a16="http://schemas.microsoft.com/office/drawing/2014/main" id="{3CA306E2-084B-48BE-8D7D-8DF0AD44CD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52609" y="1237554"/>
            <a:ext cx="2436087" cy="2436087"/>
          </a:xfrm>
          <a:prstGeom prst="rect">
            <a:avLst/>
          </a:prstGeom>
        </p:spPr>
      </p:pic>
    </p:spTree>
    <p:extLst>
      <p:ext uri="{BB962C8B-B14F-4D97-AF65-F5344CB8AC3E}">
        <p14:creationId xmlns:p14="http://schemas.microsoft.com/office/powerpoint/2010/main" val="401877951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View</Template>
  <TotalTime>201</TotalTime>
  <Words>345</Words>
  <Application>Microsoft Office PowerPoint</Application>
  <PresentationFormat>Widescreen</PresentationFormat>
  <Paragraphs>44</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Century Gothic</vt:lpstr>
      <vt:lpstr>Courier New</vt:lpstr>
      <vt:lpstr>source-serif-pro</vt:lpstr>
      <vt:lpstr>Wingdings 3</vt:lpstr>
      <vt:lpstr>Wisp</vt:lpstr>
      <vt:lpstr>Introduction to NLP</vt:lpstr>
      <vt:lpstr>Natural Language Processing or NLP is a multidisciplinary field combining math linguistics and computer science the goal is to get computer to do useful things with natural language data. And by Natural language we mean the language we read , write and speak with.</vt:lpstr>
      <vt:lpstr>Common NLP Tasks and Applications</vt:lpstr>
      <vt:lpstr>Why NLP is hard ?</vt:lpstr>
      <vt:lpstr>Fundamentals of NLP </vt:lpstr>
      <vt:lpstr>Deep Learning for NLP</vt:lpstr>
      <vt:lpstr>Preprocessing : 1.Tokenization</vt:lpstr>
      <vt:lpstr>How to do tokenization </vt:lpstr>
      <vt:lpstr>PowerPoint Presentation</vt:lpstr>
      <vt:lpstr>PowerPoint Presentation</vt:lpstr>
      <vt:lpstr>Code implementation of Case folding </vt:lpstr>
      <vt:lpstr>PowerPoint Presentation</vt:lpstr>
      <vt:lpstr>Code implementation of Stop Word Removal</vt:lpstr>
      <vt:lpstr>PowerPoint Presentation</vt:lpstr>
      <vt:lpstr>PowerPoint Presentation</vt:lpstr>
      <vt:lpstr>PowerPoint Presentation</vt:lpstr>
      <vt:lpstr>Tradeoffs of Lemmatization</vt:lpstr>
      <vt:lpstr>Code implementation of Lemmatization</vt:lpstr>
      <vt:lpstr>Advanced Preprocessing</vt:lpstr>
      <vt:lpstr>PowerPoint Presentation</vt:lpstr>
      <vt:lpstr>Code implementation of POS Tagging</vt:lpstr>
      <vt:lpstr>PowerPoint Presentation</vt:lpstr>
      <vt:lpstr>Why NER is useful?</vt:lpstr>
      <vt:lpstr>Code implementation of NER Tagging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dc:title>
  <dc:creator>DCL</dc:creator>
  <cp:lastModifiedBy>Nayeem Ahmed (nahmed2)</cp:lastModifiedBy>
  <cp:revision>22</cp:revision>
  <dcterms:created xsi:type="dcterms:W3CDTF">2024-07-08T15:52:38Z</dcterms:created>
  <dcterms:modified xsi:type="dcterms:W3CDTF">2026-06-05T04:56:39Z</dcterms:modified>
</cp:coreProperties>
</file>